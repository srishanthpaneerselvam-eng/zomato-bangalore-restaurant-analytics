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103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651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337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RESTAURANT</a:t>
            </a:r>
            <a:endParaRPr lang="en-US" sz="1400" dirty="0"/>
          </a:p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6344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Project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663440" y="342900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case study using the Zomato Bangalore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dataset — data cleaning, DAX measures, and an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two-page dashboard.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34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Srishanth P |  Computer science &amp; engineering.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has thousands of restaurants across dozens of localities, and the raw Zomato listings data is messy — duplicate names, inconsistent text, mixed data types. The goal was to clean this dataset and turn it into a dashboard that a business team could actually use to make decisions.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7F7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172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raw dataset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35387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column types, trim text, and remove noise in Power Query.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30632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7F7F7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3172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 model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83480" y="35387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table for fast, reliable DAX calculations.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7F7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636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KPIs &amp; visuals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50017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numbers that matter to restaurant owners and analysts.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45262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7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4636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self-serve exploration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83480" y="50017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location, cuisine, rating, and more.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2344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E23744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1737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(Kaggle)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~7,000 restaurants after cleaning · 92 locations · 15M+ votes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Cleaning the Raw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in Power Query to fix data quality issues before the data ever reached the report.</a:t>
            </a:r>
            <a:endParaRPr lang="en-US" sz="1250" dirty="0"/>
          </a:p>
        </p:txBody>
      </p:sp>
      <p:pic>
        <p:nvPicPr>
          <p:cNvPr id="4" name="Image 0" descr="images/Screenshot_2026-07-20_2158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86384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417320"/>
            <a:ext cx="2971800" cy="4709160"/>
          </a:xfrm>
          <a:prstGeom prst="roundRect">
            <a:avLst>
              <a:gd name="adj" fmla="val 2462"/>
            </a:avLst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869680" y="20116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Text.Clean and Trim to strip hidden characters from every text column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869680" y="30632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types across all 10 columns — rate, votes, and cost as numbers, not text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869680" y="41148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quality checks confirm 0% errors and 0% empty values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869680" y="516636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the rest_type and cuisines fields for consistent grouping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Structuring the Table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types were fixed, restaurant name, online order, and booking columns were added back in the right order for modeling.</a:t>
            </a:r>
            <a:endParaRPr lang="en-US" sz="1250" dirty="0"/>
          </a:p>
        </p:txBody>
      </p:sp>
      <p:pic>
        <p:nvPicPr>
          <p:cNvPr id="4" name="Image 0" descr="images/Screenshot_2026-07-20_2158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863840" cy="44165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417320"/>
            <a:ext cx="2971800" cy="4416552"/>
          </a:xfrm>
          <a:prstGeom prst="roundRect">
            <a:avLst>
              <a:gd name="adj" fmla="val 2462"/>
            </a:avLst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869680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Name, online_order, and book_table brought in as clean, typed columns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869680" y="2971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(e.g. repeated cafe entries) identified for the model to handle correctly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869680" y="3931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issues in restaurant names flagged for further cleanup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869680" y="4892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table: 11 columns, 50000z+ rows, ready for the data model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Market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 · KPI cards, location breakdown, cuisine ranking, and online order / table booking split, all filterable by slicers on the left.</a:t>
            </a:r>
            <a:endParaRPr lang="en-US" sz="1200" dirty="0"/>
          </a:p>
        </p:txBody>
      </p:sp>
      <p:pic>
        <p:nvPicPr>
          <p:cNvPr id="4" name="Image 0" descr="images/Screenshot_2026-07-20_2155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11155680" cy="5193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Business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 · best-rated restaurant types, top locations by rating, most-voted restaurants, and a written insight summary for quick reading.</a:t>
            </a:r>
            <a:endParaRPr lang="en-US" sz="1200" dirty="0"/>
          </a:p>
        </p:txBody>
      </p:sp>
      <p:pic>
        <p:nvPicPr>
          <p:cNvPr id="4" name="Image 0" descr="images/Screenshot_2026-07-20_2155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71600"/>
            <a:ext cx="101498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restaurants offer online ordering, but only 15.2% offer table booking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600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4.14★ vs 3.62★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with table booking rate meaningfully higher than those without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600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21040" y="22402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common cuisine, with 2,148 restaurants listing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highest restaurant density of any locality, at 3.9K listings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7033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Pub, Cafe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5720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top-rated restaurant type combination, averaging 4.7★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37033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Lavelle Road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45720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highest-rated location in the city, at 4.14★ average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Skills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685800"/>
          </a:xfrm>
          <a:prstGeom prst="roundRect">
            <a:avLst>
              <a:gd name="adj" fmla="val 46667"/>
            </a:avLst>
          </a:prstGeom>
          <a:solidFill>
            <a:srgbClr val="E23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343400" y="1280160"/>
            <a:ext cx="3520440" cy="685800"/>
          </a:xfrm>
          <a:prstGeom prst="roundRect">
            <a:avLst>
              <a:gd name="adj" fmla="val 46667"/>
            </a:avLst>
          </a:prstGeom>
          <a:solidFill>
            <a:srgbClr val="E23744"/>
          </a:solidFill>
          <a:ln/>
        </p:spPr>
      </p:sp>
      <p:sp>
        <p:nvSpPr>
          <p:cNvPr id="6" name="Text 4"/>
          <p:cNvSpPr/>
          <p:nvPr/>
        </p:nvSpPr>
        <p:spPr>
          <a:xfrm>
            <a:off x="4343400" y="12801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138160" y="1280160"/>
            <a:ext cx="3520440" cy="685800"/>
          </a:xfrm>
          <a:prstGeom prst="roundRect">
            <a:avLst>
              <a:gd name="adj" fmla="val 46667"/>
            </a:avLst>
          </a:prstGeom>
          <a:solidFill>
            <a:srgbClr val="E23744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12801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520440" cy="685800"/>
          </a:xfrm>
          <a:prstGeom prst="roundRect">
            <a:avLst>
              <a:gd name="adj" fmla="val 46667"/>
            </a:avLst>
          </a:prstGeom>
          <a:solidFill>
            <a:srgbClr val="E237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194560"/>
            <a:ext cx="3520440" cy="685800"/>
          </a:xfrm>
          <a:prstGeom prst="roundRect">
            <a:avLst>
              <a:gd name="adj" fmla="val 46667"/>
            </a:avLst>
          </a:prstGeom>
          <a:solidFill>
            <a:srgbClr val="E23744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1945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2194560"/>
            <a:ext cx="3520440" cy="685800"/>
          </a:xfrm>
          <a:prstGeom prst="roundRect">
            <a:avLst>
              <a:gd name="adj" fmla="val 46667"/>
            </a:avLst>
          </a:prstGeom>
          <a:solidFill>
            <a:srgbClr val="E23744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1945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Filters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this .pbix, screenshots, and this report to GitHub with a clear README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DAX measure documentation alongside the model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with a cost-vs-rating analysis in a future version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62977" y="352044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2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3703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4069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FF0000"/>
                </a:solidFill>
              </a:rPr>
              <a:t>https://github.com/srishanthpaneerselvam-eng/Zomato-bangalore-restaurant-analytics</a:t>
            </a:r>
          </a:p>
        </p:txBody>
      </p:sp>
      <p:sp>
        <p:nvSpPr>
          <p:cNvPr id="20" name="Text 18"/>
          <p:cNvSpPr/>
          <p:nvPr/>
        </p:nvSpPr>
        <p:spPr>
          <a:xfrm>
            <a:off x="6949440" y="45262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README sections: Overview, Dataset, Data Cleaning Steps, Dashboard Screenshots, Key Insights, Tools Used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596</Words>
  <Application>Microsoft Office PowerPoint</Application>
  <PresentationFormat>Widescreen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Srishanth P</cp:lastModifiedBy>
  <cp:revision>3</cp:revision>
  <dcterms:created xsi:type="dcterms:W3CDTF">2026-07-20T16:50:24Z</dcterms:created>
  <dcterms:modified xsi:type="dcterms:W3CDTF">2026-07-20T17:18:59Z</dcterms:modified>
</cp:coreProperties>
</file>